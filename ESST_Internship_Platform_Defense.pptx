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École Supérieure des Sciences et de la Technologie (ESST)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Final-year project (PFE) — Academic Year 2025–2026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>
                <a:solidFill>
                  <a:srgbClr val="1E3A8A"/>
                </a:solidFill>
                <a:latin typeface="Calibri"/>
              </a:rPr>
              <a:t>ESST Internship Management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0">
                <a:solidFill>
                  <a:srgbClr val="4F46E5"/>
                </a:solidFill>
                <a:latin typeface="Calibri"/>
              </a:rPr>
              <a:t>A web-based system for the full PFE / internship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5029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377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Calibri"/>
              </a:rPr>
              <a:t>Thiziri Meriem Merzougui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Supervisor: [Supervisor Name]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4572000"/>
            <a:ext cx="5029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663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Defense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93776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E3A8A"/>
                </a:solidFill>
                <a:latin typeface="Calibri"/>
              </a:rPr>
              <a:t>[Date]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4406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Jury: [Members]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Context &amp;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Why does ESST need a dedicated platform?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Calibri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•  </a:t>
            </a:r>
            <a:r>
              <a:rPr sz="1600">
                <a:solidFill>
                  <a:srgbClr val="374151"/>
                </a:solidFill>
                <a:latin typeface="Calibri"/>
              </a:rPr>
              <a:t>ESST manages hundreds of PFEs and internships every year.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•  </a:t>
            </a:r>
            <a:r>
              <a:rPr sz="1600">
                <a:solidFill>
                  <a:srgbClr val="374151"/>
                </a:solidFill>
                <a:latin typeface="Calibri"/>
              </a:rPr>
              <a:t>Five distinct actors: Student, Teacher, Company, Dept. Admin, Super Admin.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4F46E5"/>
                </a:solidFill>
              </a:rPr>
              <a:t>•  </a:t>
            </a:r>
            <a:r>
              <a:rPr sz="1600">
                <a:solidFill>
                  <a:srgbClr val="374151"/>
                </a:solidFill>
                <a:latin typeface="Calibri"/>
              </a:rPr>
              <a:t>The workflow currently runs on paper, e-mail and Excel.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6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Calibri"/>
              </a:rPr>
              <a:t>Pain points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DC2626"/>
                </a:solidFill>
              </a:rPr>
              <a:t>•  </a:t>
            </a:r>
            <a:r>
              <a:rPr sz="1600">
                <a:solidFill>
                  <a:srgbClr val="374151"/>
                </a:solidFill>
                <a:latin typeface="Calibri"/>
              </a:rPr>
              <a:t>Fragmented data — no single repository of subjects or applications.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C2626"/>
                </a:solidFill>
              </a:rPr>
              <a:t>•  </a:t>
            </a:r>
            <a:r>
              <a:rPr sz="1600">
                <a:solidFill>
                  <a:srgbClr val="374151"/>
                </a:solidFill>
                <a:latin typeface="Calibri"/>
              </a:rPr>
              <a:t>Delays in multi-actor validation (Admin → Teacher → Company).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C2626"/>
                </a:solidFill>
              </a:rPr>
              <a:t>•  </a:t>
            </a:r>
            <a:r>
              <a:rPr sz="1600">
                <a:solidFill>
                  <a:srgbClr val="374151"/>
                </a:solidFill>
                <a:latin typeface="Calibri"/>
              </a:rPr>
              <a:t>Lost agreements and reports circulating by e-mail.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C2626"/>
                </a:solidFill>
              </a:rPr>
              <a:t>•  </a:t>
            </a:r>
            <a:r>
              <a:rPr sz="1600">
                <a:solidFill>
                  <a:srgbClr val="374151"/>
                </a:solidFill>
                <a:latin typeface="Calibri"/>
              </a:rPr>
              <a:t>No traceability — no audit trail of who validated / rejected / when.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C2626"/>
                </a:solidFill>
              </a:rPr>
              <a:t>•  </a:t>
            </a:r>
            <a:r>
              <a:rPr sz="1600">
                <a:solidFill>
                  <a:srgbClr val="374151"/>
                </a:solidFill>
                <a:latin typeface="Calibri"/>
              </a:rPr>
              <a:t>Informal binôme &amp; team formation, hard to oversee.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What the platform must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881360" cy="59436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73352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Centralize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673352"/>
            <a:ext cx="8778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the full internship lifecycle in one platform.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267712"/>
            <a:ext cx="10881360" cy="59436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386584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86584"/>
            <a:ext cx="8778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a clear multi-actor validation flow (Admin → Teacher → Company → Final Admin).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80944"/>
            <a:ext cx="10881360" cy="59436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99815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099815"/>
            <a:ext cx="8778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team and binôme formation with invitations.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694176"/>
            <a:ext cx="10881360" cy="59436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13048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13048"/>
            <a:ext cx="8778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documents, deadlines and mini-presentations.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07408"/>
            <a:ext cx="10881360" cy="59436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26280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Provide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526280"/>
            <a:ext cx="8778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role-based dashboards for every actor.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10881360" cy="59436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39512"/>
            <a:ext cx="18288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EA580C"/>
                </a:solidFill>
                <a:latin typeface="Calibri"/>
              </a:rPr>
              <a:t>Guarantee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5239512"/>
            <a:ext cx="87782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>
                <a:solidFill>
                  <a:srgbClr val="374151"/>
                </a:solidFill>
                <a:latin typeface="Calibri"/>
              </a:rPr>
              <a:t>traceability through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State of the 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Existing solutions — and the gap they leave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274320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4592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554480"/>
            <a:ext cx="411480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64592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554480"/>
            <a:ext cx="4114800" cy="50292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645920"/>
            <a:ext cx="41148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Limits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057400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21992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Moodle Internship plugin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057400"/>
            <a:ext cx="41148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221992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Free, mature, well-known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0" y="2057400"/>
            <a:ext cx="41148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2221992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No multi-step validation, no binôme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56032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724912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Stage Manager (commercial)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560320"/>
            <a:ext cx="4114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724912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Polished UI, ready-made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0" y="2560320"/>
            <a:ext cx="4114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2724912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Costly, not customizable to ESST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063240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227832"/>
            <a:ext cx="27432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Excel + e-mail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3063240"/>
            <a:ext cx="41148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227832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Familiar, no learning curve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80" y="3063240"/>
            <a:ext cx="4114800" cy="6400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3227832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No automation, no traceability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1206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A580C"/>
                </a:solidFill>
                <a:latin typeface="Calibri"/>
              </a:rPr>
              <a:t>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44068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None of these combines a multi-actor validation workflow with team management and document tracking, tailored to an Algerian engineering school's process.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Five roles, one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520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3520440" cy="5029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27632"/>
            <a:ext cx="35204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315468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Forms a team, proposes / picks a subject,</a:t>
            </a:r>
          </a:p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applies, submits reports.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520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554480"/>
            <a:ext cx="352044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627632"/>
            <a:ext cx="35204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Teacher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240280"/>
            <a:ext cx="315468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Supervises assigned internships,</a:t>
            </a:r>
          </a:p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validates final reports.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520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520440" cy="5029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27632"/>
            <a:ext cx="35204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Company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40280"/>
            <a:ext cx="315468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Proposes subjects, validates applications,</a:t>
            </a:r>
          </a:p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evaluates the intern.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206240"/>
            <a:ext cx="3520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77440" y="4206240"/>
            <a:ext cx="352044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4279392"/>
            <a:ext cx="35204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Dept. 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892040"/>
            <a:ext cx="315468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Validates subjects, creates internships,</a:t>
            </a:r>
          </a:p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sets deadlines, closes internships.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4206240"/>
            <a:ext cx="352044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4206240"/>
            <a:ext cx="352044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279392"/>
            <a:ext cx="35204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Super Admin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92040"/>
            <a:ext cx="3154680" cy="1737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Cross-departmental governance: settings,</a:t>
            </a:r>
          </a:p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audit logs, statistics, registrations.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Use Cases — Student &amp; Teacher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Insert Figure X.1 (Student) and Figure X.2 (Teacher)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5486400" cy="4114800"/>
          </a:xfrm>
          <a:prstGeom prst="rect">
            <a:avLst/>
          </a:prstGeom>
          <a:solidFill>
            <a:srgbClr val="F3F4F6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4F46E5"/>
                </a:solidFill>
                <a:latin typeface="Calibri"/>
              </a:rPr>
              <a:t>[ Figure X.1 — Student UCD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5120640" cy="4114800"/>
          </a:xfrm>
          <a:prstGeom prst="rect">
            <a:avLst/>
          </a:prstGeom>
          <a:solidFill>
            <a:srgbClr val="F3F4F6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83280"/>
            <a:ext cx="5120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16A34A"/>
                </a:solidFill>
                <a:latin typeface="Calibri"/>
              </a:rPr>
              <a:t>[ Figure X.2 — Teacher UCD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06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Student: create team → propose/apply for subject → submit reports.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Teacher: view assigned internships → validate or request revision.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Use Cases — Company, Admin, Super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Insert Figures X.5, X.3, X.4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611880" cy="3931920"/>
          </a:xfrm>
          <a:prstGeom prst="rect">
            <a:avLst/>
          </a:prstGeom>
          <a:solidFill>
            <a:srgbClr val="F3F4F6"/>
          </a:solidFill>
          <a:ln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EA580C"/>
                </a:solidFill>
                <a:latin typeface="Calibri"/>
              </a:rPr>
              <a:t>[ Figure X.5 — Company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3611880" cy="3931920"/>
          </a:xfrm>
          <a:prstGeom prst="rect">
            <a:avLst/>
          </a:prstGeom>
          <a:solidFill>
            <a:srgbClr val="F3F4F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3383280"/>
            <a:ext cx="36118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D97706"/>
                </a:solidFill>
                <a:latin typeface="Calibri"/>
              </a:rPr>
              <a:t>[ Figure X.3 — Dept. Admin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291840" cy="3931920"/>
          </a:xfrm>
          <a:prstGeom prst="rect">
            <a:avLst/>
          </a:prstGeom>
          <a:solidFill>
            <a:srgbClr val="F3F4F6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38328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DC2626"/>
                </a:solidFill>
                <a:latin typeface="Calibri"/>
              </a:rPr>
              <a:t>[ Figure X.4 — Super Admin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Company: propose subjects, validate applications, confirm dates, validate final report.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Dept. Admin orchestrates the workflow; Super Admin = same class with isSuperAdmin = true.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Domain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Insert Figure Y — Class diagram (8 layers)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6858000" cy="4572000"/>
          </a:xfrm>
          <a:prstGeom prst="rect">
            <a:avLst/>
          </a:prstGeom>
          <a:solidFill>
            <a:srgbClr val="F3F4F6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4F46E5"/>
                </a:solidFill>
                <a:latin typeface="Calibri"/>
              </a:rPr>
              <a:t>[ Figure Y — Class Diagram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55448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8 logical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9659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Identity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Institutional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Registration &amp; Security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Teams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Topic pipeline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Internship engine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Communication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5212080"/>
            <a:ext cx="3749039" cy="9144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528523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EA580C"/>
                </a:solidFill>
                <a:latin typeface="Calibri"/>
              </a:rPr>
              <a:t>Role discriminator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559552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One AdminProfile · isSuperAdmin flag,</a:t>
            </a:r>
          </a:p>
          <a:p>
            <a:pPr algn="l"/>
            <a:r>
              <a:rPr sz="1100" b="0">
                <a:solidFill>
                  <a:srgbClr val="374151"/>
                </a:solidFill>
                <a:latin typeface="Calibri"/>
              </a:rPr>
              <a:t>no spurious inheritance.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3-tier, stateless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737360"/>
            <a:ext cx="6675120" cy="10058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874519"/>
            <a:ext cx="6675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Frontend  ·  Next.js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286000"/>
            <a:ext cx="6675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React · shadcn/ui · TanStack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108960"/>
            <a:ext cx="6675120" cy="100584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3246120"/>
            <a:ext cx="6675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Backend  ·  Node.js (Server Actions / REST)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57600"/>
            <a:ext cx="6675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Auth (JWT) · business rules · validation · Prisma 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4480560"/>
            <a:ext cx="6675120" cy="1005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4617720"/>
            <a:ext cx="667512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Database  · 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029200"/>
            <a:ext cx="66751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Persistent storage of all entities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852160" y="2788920"/>
            <a:ext cx="457200" cy="365760"/>
          </a:xfrm>
          <a:prstGeom prst="down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852160" y="4160520"/>
            <a:ext cx="457200" cy="365760"/>
          </a:xfrm>
          <a:prstGeom prst="down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828800"/>
            <a:ext cx="2011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4F46E5"/>
                </a:solidFill>
              </a:rPr>
              <a:t>•  </a:t>
            </a:r>
            <a:r>
              <a:rPr sz="1200">
                <a:solidFill>
                  <a:srgbClr val="374151"/>
                </a:solidFill>
                <a:latin typeface="Calibri"/>
              </a:rPr>
              <a:t>Stateless API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4F46E5"/>
                </a:solidFill>
              </a:rPr>
              <a:t>•  </a:t>
            </a:r>
            <a:r>
              <a:rPr sz="1200">
                <a:solidFill>
                  <a:srgbClr val="374151"/>
                </a:solidFill>
                <a:latin typeface="Calibri"/>
              </a:rPr>
              <a:t>JWT auth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4F46E5"/>
                </a:solidFill>
              </a:rPr>
              <a:t>•  </a:t>
            </a:r>
            <a:r>
              <a:rPr sz="1200">
                <a:solidFill>
                  <a:srgbClr val="374151"/>
                </a:solidFill>
                <a:latin typeface="Calibri"/>
              </a:rPr>
              <a:t>Brute-force
protection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4F46E5"/>
                </a:solidFill>
              </a:rPr>
              <a:t>•  </a:t>
            </a:r>
            <a:r>
              <a:rPr sz="1200">
                <a:solidFill>
                  <a:srgbClr val="374151"/>
                </a:solidFill>
                <a:latin typeface="Calibri"/>
              </a:rPr>
              <a:t>Audit log</a:t>
            </a:r>
          </a:p>
          <a:p>
            <a:pPr algn="l">
              <a:spcAft>
                <a:spcPts val="800"/>
              </a:spcAft>
            </a:pPr>
            <a:r>
              <a:rPr sz="1200" b="1">
                <a:solidFill>
                  <a:srgbClr val="4F46E5"/>
                </a:solidFill>
              </a:rPr>
              <a:t>•  </a:t>
            </a:r>
            <a:r>
              <a:rPr sz="1200">
                <a:solidFill>
                  <a:srgbClr val="374151"/>
                </a:solidFill>
                <a:latin typeface="Calibri"/>
              </a:rPr>
              <a:t>E-mail + in-app
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Demo — Golden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End-to-end internship in 5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777240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777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691640"/>
            <a:ext cx="996696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1828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Calibri"/>
              </a:rPr>
              <a:t>Student forms a team and applies to a subject.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777240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79"/>
            <a:ext cx="777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2606039"/>
            <a:ext cx="996696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83080" y="27432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Calibri"/>
              </a:rPr>
              <a:t>Admin validates the subject and creates the internship.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777240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11879"/>
            <a:ext cx="777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520439"/>
            <a:ext cx="996696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6576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Calibri"/>
              </a:rPr>
              <a:t>Teacher views the assignment.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89120"/>
            <a:ext cx="777240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26280"/>
            <a:ext cx="777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4434840"/>
            <a:ext cx="996696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45720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Calibri"/>
              </a:rPr>
              <a:t>Student submits the final report.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03520"/>
            <a:ext cx="777240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40680"/>
            <a:ext cx="7772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5349240"/>
            <a:ext cx="996696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83080" y="54864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Calibri"/>
              </a:rPr>
              <a:t>Teacher + Company validate · Admin closes the internship.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Demo —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Insert screenshots: notifications · audit log · super-admin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520440" cy="4114800"/>
          </a:xfrm>
          <a:prstGeom prst="rect">
            <a:avLst/>
          </a:prstGeom>
          <a:solidFill>
            <a:srgbClr val="F3F4F6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F46E5"/>
                </a:solidFill>
                <a:latin typeface="Calibri"/>
              </a:rPr>
              <a:t>[ Notifications screenshot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54480"/>
            <a:ext cx="3520440" cy="4114800"/>
          </a:xfrm>
          <a:prstGeom prst="rect">
            <a:avLst/>
          </a:prstGeom>
          <a:solidFill>
            <a:srgbClr val="F3F4F6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38328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F46E5"/>
                </a:solidFill>
                <a:latin typeface="Calibri"/>
              </a:rPr>
              <a:t>[ Audit log screenshot 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554480"/>
            <a:ext cx="3520440" cy="4114800"/>
          </a:xfrm>
          <a:prstGeom prst="rect">
            <a:avLst/>
          </a:prstGeom>
          <a:solidFill>
            <a:srgbClr val="F3F4F6"/>
          </a:solidFill>
          <a:ln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3383280"/>
            <a:ext cx="35204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4F46E5"/>
                </a:solidFill>
                <a:latin typeface="Calibri"/>
              </a:rPr>
              <a:t>[ Super-Admin dashboard screenshot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Every sensitive write produces an AuditLog row.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4F46E5"/>
                </a:solidFill>
              </a:rPr>
              <a:t>•  </a:t>
            </a:r>
            <a:r>
              <a:rPr sz="1300">
                <a:solidFill>
                  <a:srgbClr val="374151"/>
                </a:solidFill>
                <a:latin typeface="Calibri"/>
              </a:rPr>
              <a:t>Each actor lands on a role-specific dashboard.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How we verified that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109728" cy="210312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Calibri"/>
              </a:rPr>
              <a:t>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47548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All 5 actor workflows executed end-to-end on the golden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109728" cy="2103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Calibri"/>
              </a:rPr>
              <a:t>Unit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47548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Business rules: validation transitions, deadline enforcement.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023360"/>
            <a:ext cx="109728" cy="21031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  <a:latin typeface="Calibri"/>
              </a:rPr>
              <a:t>User trial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54880"/>
            <a:ext cx="47548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3 students + 1 admin: positive feedback on clarity &amp; speed.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023360"/>
            <a:ext cx="512064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F3F4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402336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42062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Calibri"/>
              </a:rP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754880"/>
            <a:ext cx="47548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p95 response time ≤ 200 ms under realistic local load.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Limitations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What's not in scope yet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Calibri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Responsive web only — no native mobile app.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Statistics module is read-only — no advanced analytics.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DC2626"/>
                </a:solidFill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No integration with the school's SSO.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Calibri"/>
              </a:rPr>
              <a:t>Perspectives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6A34A"/>
                </a:solidFill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Mobile companion app (React Native).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6A34A"/>
                </a:solidFill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AI-assisted subject ↔ student matching.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6A34A"/>
                </a:solidFill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BI dashboard for Super Admin.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16A34A"/>
                </a:solidFill>
              </a:rPr>
              <a:t>•  </a:t>
            </a:r>
            <a:r>
              <a:rPr sz="1500">
                <a:solidFill>
                  <a:srgbClr val="374151"/>
                </a:solidFill>
                <a:latin typeface="Calibri"/>
              </a:rPr>
              <a:t>SSO with the school's identity provider.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09728" cy="5486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1E3A8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What was delivered — and what I take with 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446520"/>
            <a:ext cx="11430000" cy="1828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>ESST Internship Management Platform · PFE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374151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•  </a:t>
            </a:r>
            <a:r>
              <a:rPr sz="1700">
                <a:solidFill>
                  <a:srgbClr val="374151"/>
                </a:solidFill>
                <a:latin typeface="Calibri"/>
              </a:rPr>
              <a:t>Complete internship management platform covering 5 actors and 30+ use cases.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•  </a:t>
            </a:r>
            <a:r>
              <a:rPr sz="1700">
                <a:solidFill>
                  <a:srgbClr val="374151"/>
                </a:solidFill>
                <a:latin typeface="Calibri"/>
              </a:rPr>
              <a:t>Clean domain model: one role-based AdminProfile, full audit trail.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•  </a:t>
            </a:r>
            <a:r>
              <a:rPr sz="1700">
                <a:solidFill>
                  <a:srgbClr val="374151"/>
                </a:solidFill>
                <a:latin typeface="Calibri"/>
              </a:rPr>
              <a:t>Working prototype, validated end-to-end on the golden internship workflow.</a:t>
            </a:r>
          </a:p>
          <a:p>
            <a:pPr algn="l">
              <a:spcAft>
                <a:spcPts val="800"/>
              </a:spcAft>
            </a:pPr>
            <a:r>
              <a:rPr sz="1700" b="1">
                <a:solidFill>
                  <a:srgbClr val="4F46E5"/>
                </a:solidFill>
              </a:rPr>
              <a:t>•  </a:t>
            </a:r>
            <a:r>
              <a:rPr sz="1700">
                <a:solidFill>
                  <a:srgbClr val="374151"/>
                </a:solidFill>
                <a:latin typeface="Calibri"/>
              </a:rPr>
              <a:t>Personally: deepened full-stack TypeScript, UML modelling, agile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754880"/>
            <a:ext cx="12191695" cy="1371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0" y="5029200"/>
            <a:ext cx="12191695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Thank you for your 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53212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